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00" b="1">
                <a:rFonts a:latin="Noto Sans" a:ea="Noto Sans" a:cs="Noto Sans"/>
                <a:solidFill>
                  <a:srgbClr val="E60012"/>
                </a:solidFill>
                <a:latin typeface="Noto Sans"/>
              </a:rPr>
              <a:t>Portfolio Title &amp; Agent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2004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000" b="1">
                <a:rFonts a:latin="Noto Sans" a:ea="Noto Sans" a:cs="Noto Sans"/>
                <a:solidFill>
                  <a:srgbClr val="606060"/>
                </a:solidFill>
                <a:latin typeface="Noto San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22960"/>
            <a:ext cx="5257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2000"/>
              </a:lnSpc>
            </a:pPr>
            <a:r>
              <a:rPr sz="2400" b="1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AI SCM Data Analysis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572768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300" b="1">
                <a:rFonts a:latin="Noto Sans" a:ea="Noto Sans" a:cs="Noto Sans"/>
                <a:solidFill>
                  <a:srgbClr val="E60012"/>
                </a:solidFill>
                <a:latin typeface="Noto Sans"/>
              </a:rPr>
              <a:t>AI SCMデータ分析プロジェクト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965960"/>
            <a:ext cx="5074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</a:pPr>
            <a:r>
              <a:rPr sz="1250" b="0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本システムは、SCM業務を専門Agentに分解し、需要予測から補充・店舗間移動まで一貫した意思決定支援を行います。</a:t>
            </a:r>
          </a:p>
          <a:p>
            <a:pPr>
              <a:lnSpc>
                <a:spcPct val="108000"/>
              </a:lnSpc>
            </a:pPr>
            <a:r>
              <a:rPr sz="1250" b="0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チャット層はライブCSVコンテキストを参照し、数値ロジックと説明可能な回答を提供します。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063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100" b="1">
                <a:rFonts a:latin="Noto Sans" a:ea="Noto Sans" a:cs="Noto Sans"/>
                <a:solidFill>
                  <a:srgbClr val="E60012"/>
                </a:solidFill>
                <a:latin typeface="Noto Sans"/>
              </a:rPr>
              <a:t>Architecture Layers / 構成レイヤー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401568"/>
            <a:ext cx="5166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L1  Orchestrator: SCM Manager Agent（質問受付・統合説明）</a:t>
            </a:r>
          </a:p>
          <a:p>
            <a:pPr>
              <a:lnSpc>
                <a:spcPct val="112000"/>
              </a:lnSpc>
            </a:pPr>
            <a:r>
              <a:rPr sz="1200" b="0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L2  Reasoning: Gemini 3.5 Flash（Primary）/ Local Rule Agent（Fallback）</a:t>
            </a:r>
          </a:p>
          <a:p>
            <a:pPr>
              <a:lnSpc>
                <a:spcPct val="112000"/>
              </a:lnSpc>
            </a:pPr>
            <a:r>
              <a:rPr sz="1200" b="0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L3  Specialists: Forecast · Inventory Policy · Replenishment · Transfer</a:t>
            </a:r>
          </a:p>
          <a:p>
            <a:pPr>
              <a:lnSpc>
                <a:spcPct val="112000"/>
              </a:lnSpc>
            </a:pPr>
            <a:r>
              <a:rPr sz="1200" b="0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L4  Foundation: scm_engine + demo CSV → Dashboard &amp; Agent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5074920"/>
            <a:ext cx="5166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150" b="1">
                <a:rFonts a:latin="Noto Sans" a:ea="Noto Sans" a:cs="Noto Sans"/>
                <a:solidFill>
                  <a:srgbClr val="E60012"/>
                </a:solidFill>
                <a:latin typeface="Noto Sans"/>
              </a:rPr>
              <a:t>Interview Point / 面接ポイント:</a:t>
            </a:r>
          </a:p>
          <a:p>
            <a:pPr>
              <a:lnSpc>
                <a:spcPct val="105000"/>
              </a:lnSpc>
            </a:pPr>
            <a:r>
              <a:rPr sz="1150" b="1">
                <a:rFonts a:latin="Noto Sans" a:ea="Noto Sans" a:cs="Noto Sans"/>
                <a:solidFill>
                  <a:srgbClr val="E60012"/>
                </a:solidFill>
                <a:latin typeface="Noto Sans"/>
              </a:rPr>
              <a:t>単一チャットではなく「予測→ROP→補充→移動→説明」の階層分解デモ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960120"/>
            <a:ext cx="5394960" cy="5074920"/>
          </a:xfrm>
          <a:prstGeom prst="rect">
            <a:avLst/>
          </a:prstGeom>
          <a:solidFill>
            <a:srgbClr val="F6F6F6"/>
          </a:solidFill>
          <a:ln w="1524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124712"/>
            <a:ext cx="49926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100" b="1">
                <a:rFonts a:latin="Noto Sans" a:ea="Noto Sans" a:cs="Noto Sans"/>
                <a:solidFill>
                  <a:srgbClr val="E60012"/>
                </a:solidFill>
                <a:latin typeface="Noto Sans"/>
              </a:rPr>
              <a:t>Hierarchical Agent Map / 階層型Agent構成図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59" y="1527048"/>
            <a:ext cx="2834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59" y="1527048"/>
            <a:ext cx="2834640" cy="64008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25511" y="1636776"/>
            <a:ext cx="26883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819" b="1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SCMマネージャー Agent</a:t>
            </a:r>
          </a:p>
          <a:p>
            <a:pPr>
              <a:lnSpc>
                <a:spcPct val="95000"/>
              </a:lnSpc>
            </a:pPr>
            <a:r>
              <a:rPr sz="819" b="1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Orchestrator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69680" y="2093976"/>
            <a:ext cx="0" cy="164592"/>
          </a:xfrm>
          <a:prstGeom prst="line">
            <a:avLst/>
          </a:prstGeom>
          <a:ln w="127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492240" y="2313432"/>
            <a:ext cx="21488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2313432"/>
            <a:ext cx="2148840" cy="64008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2423160"/>
            <a:ext cx="2002536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819" b="1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Gemini 3.5 Flash</a:t>
            </a:r>
          </a:p>
          <a:p>
            <a:pPr>
              <a:lnSpc>
                <a:spcPct val="95000"/>
              </a:lnSpc>
            </a:pPr>
            <a:r>
              <a:rPr sz="819" b="1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LLM Agent (Primary)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2313432"/>
            <a:ext cx="21488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2313432"/>
            <a:ext cx="2148840" cy="64008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2423160"/>
            <a:ext cx="2002536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819" b="1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ローカル・ルール Agent</a:t>
            </a:r>
          </a:p>
          <a:p>
            <a:pPr>
              <a:lnSpc>
                <a:spcPct val="95000"/>
              </a:lnSpc>
            </a:pPr>
            <a:r>
              <a:rPr sz="819" b="1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Rule Agent (Fallback)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7562088" y="2258568"/>
            <a:ext cx="1307592" cy="54864"/>
          </a:xfrm>
          <a:prstGeom prst="line">
            <a:avLst/>
          </a:prstGeom>
          <a:ln w="127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869680" y="2258568"/>
            <a:ext cx="1298448" cy="54864"/>
          </a:xfrm>
          <a:prstGeom prst="line">
            <a:avLst/>
          </a:prstGeom>
          <a:ln w="127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869680" y="2843784"/>
            <a:ext cx="0" cy="146304"/>
          </a:xfrm>
          <a:prstGeom prst="line">
            <a:avLst/>
          </a:prstGeom>
          <a:ln w="127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6373368" y="3044952"/>
            <a:ext cx="1234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73368" y="3044952"/>
            <a:ext cx="1234440" cy="64008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154680"/>
            <a:ext cx="108813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819" b="1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需要予測 Agent</a:t>
            </a:r>
          </a:p>
          <a:p>
            <a:pPr>
              <a:lnSpc>
                <a:spcPct val="95000"/>
              </a:lnSpc>
            </a:pPr>
            <a:r>
              <a:rPr sz="819" b="1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Forecast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6986016" y="2990088"/>
            <a:ext cx="1883664" cy="54864"/>
          </a:xfrm>
          <a:prstGeom prst="line">
            <a:avLst/>
          </a:prstGeom>
          <a:ln w="127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744968" y="3044952"/>
            <a:ext cx="1234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44968" y="3044952"/>
            <a:ext cx="1234440" cy="64008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18120" y="3154680"/>
            <a:ext cx="108813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819" b="1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在庫ポリシー Agent</a:t>
            </a:r>
          </a:p>
          <a:p>
            <a:pPr>
              <a:lnSpc>
                <a:spcPct val="95000"/>
              </a:lnSpc>
            </a:pPr>
            <a:r>
              <a:rPr sz="819" b="1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ROP / SS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8357616" y="2990088"/>
            <a:ext cx="512064" cy="54864"/>
          </a:xfrm>
          <a:prstGeom prst="line">
            <a:avLst/>
          </a:prstGeom>
          <a:ln w="127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116568" y="3044952"/>
            <a:ext cx="1234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16568" y="3044952"/>
            <a:ext cx="1234440" cy="64008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89720" y="3154680"/>
            <a:ext cx="108813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819" b="1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補充推薦 Agent</a:t>
            </a:r>
          </a:p>
          <a:p>
            <a:pPr>
              <a:lnSpc>
                <a:spcPct val="95000"/>
              </a:lnSpc>
            </a:pPr>
            <a:r>
              <a:rPr sz="819" b="1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Replenish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869680" y="2990088"/>
            <a:ext cx="859536" cy="54864"/>
          </a:xfrm>
          <a:prstGeom prst="line">
            <a:avLst/>
          </a:prstGeom>
          <a:ln w="127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0488167" y="3044952"/>
            <a:ext cx="12344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488167" y="3044952"/>
            <a:ext cx="1234440" cy="64008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61319" y="3154680"/>
            <a:ext cx="108813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819" b="1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店舗間移動 Agent</a:t>
            </a:r>
          </a:p>
          <a:p>
            <a:pPr>
              <a:lnSpc>
                <a:spcPct val="95000"/>
              </a:lnSpc>
            </a:pPr>
            <a:r>
              <a:rPr sz="819" b="1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Transfer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869680" y="2990088"/>
            <a:ext cx="2231135" cy="54864"/>
          </a:xfrm>
          <a:prstGeom prst="line">
            <a:avLst/>
          </a:prstGeom>
          <a:ln w="127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6492240" y="4023360"/>
            <a:ext cx="4754880" cy="502920"/>
          </a:xfrm>
          <a:prstGeom prst="rect">
            <a:avLst/>
          </a:prstGeom>
          <a:solidFill>
            <a:srgbClr val="F6F6F6"/>
          </a:solidFill>
          <a:ln w="127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92240" y="4023360"/>
            <a:ext cx="4754880" cy="64008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65392" y="4133088"/>
            <a:ext cx="460857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819" b="1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データ基盤 → scm_engine.py</a:t>
            </a:r>
          </a:p>
          <a:p>
            <a:pPr>
              <a:lnSpc>
                <a:spcPct val="95000"/>
              </a:lnSpc>
            </a:pPr>
            <a:r>
              <a:rPr sz="819" b="1">
                <a:rFonts a:latin="Noto Sans" a:ea="Noto Sans" a:cs="Noto Sans"/>
                <a:solidFill>
                  <a:srgbClr val="111111"/>
                </a:solidFill>
                <a:latin typeface="Noto Sans"/>
              </a:rPr>
              <a:t>Sales · Inventory · Forecast · Policy · Recommendations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869680" y="3703320"/>
            <a:ext cx="0" cy="320040"/>
          </a:xfrm>
          <a:prstGeom prst="line">
            <a:avLst/>
          </a:prstGeom>
          <a:ln w="127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428232" y="4754880"/>
            <a:ext cx="48828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850" b="0">
                <a:rFonts a:latin="Noto Sans" a:ea="Noto Sans" a:cs="Noto Sans"/>
                <a:solidFill>
                  <a:srgbClr val="606060"/>
                </a:solidFill>
                <a:latin typeface="Noto Sans"/>
              </a:rPr>
              <a:t>Flow: CSV → Engine → Context → Gemini or Local → NL Answer</a:t>
            </a:r>
          </a:p>
          <a:p>
            <a:pPr>
              <a:lnSpc>
                <a:spcPct val="110000"/>
              </a:lnSpc>
            </a:pPr>
            <a:r>
              <a:rPr sz="850" b="0">
                <a:rFonts a:latin="Noto Sans" a:ea="Noto Sans" a:cs="Noto Sans"/>
                <a:solidFill>
                  <a:srgbClr val="606060"/>
                </a:solidFill>
                <a:latin typeface="Noto Sans"/>
              </a:rPr>
              <a:t>面接: 数値は再現可能ロジック / 説明はLLM層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6382512"/>
            <a:ext cx="11155680" cy="9144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800" b="0">
                <a:rFonts a:latin="Noto Sans" a:ea="Noto Sans" a:cs="Noto Sans"/>
                <a:solidFill>
                  <a:srgbClr val="606060"/>
                </a:solidFill>
                <a:latin typeface="Noto Sans"/>
              </a:rPr>
              <a:t>AI SCM Data Analysis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